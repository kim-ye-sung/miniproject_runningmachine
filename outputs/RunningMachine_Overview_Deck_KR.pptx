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9af00546174e7e" /><Relationship Type="http://schemas.openxmlformats.org/officeDocument/2006/relationships/extended-properties" Target="/docProps/app.xml" Id="R060c3eb785084098" /><Relationship Type="http://schemas.openxmlformats.org/officeDocument/2006/relationships/officeDocument" Target="/ppt/presentation.xml" Id="R3e9bde679fab4b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51a064f27943be"/>
  </p:sldMasterIdLst>
  <p:notesMasterIdLst>
    <p:notesMasterId xmlns:r="http://schemas.openxmlformats.org/officeDocument/2006/relationships" r:id="R9277d295337748f0"/>
  </p:notesMasterIdLst>
  <p:sldIdLst>
    <p:sldId xmlns:r="http://schemas.openxmlformats.org/officeDocument/2006/relationships" id="256" r:id="R1817434b811a4148"/>
    <p:sldId xmlns:r="http://schemas.openxmlformats.org/officeDocument/2006/relationships" id="257" r:id="Ra799c08adfc247e5"/>
    <p:sldId xmlns:r="http://schemas.openxmlformats.org/officeDocument/2006/relationships" id="258" r:id="Raf2937b2b9ea48f0"/>
    <p:sldId xmlns:r="http://schemas.openxmlformats.org/officeDocument/2006/relationships" id="259" r:id="R072f851706fe4014"/>
    <p:sldId xmlns:r="http://schemas.openxmlformats.org/officeDocument/2006/relationships" id="260" r:id="R59b83c47ac8f4b57"/>
    <p:sldId xmlns:r="http://schemas.openxmlformats.org/officeDocument/2006/relationships" id="261" r:id="Ra00b9dc7b476401f"/>
    <p:sldId xmlns:r="http://schemas.openxmlformats.org/officeDocument/2006/relationships" id="262" r:id="R34490f4d29674e03"/>
    <p:sldId xmlns:r="http://schemas.openxmlformats.org/officeDocument/2006/relationships" id="263" r:id="Rb4cc365ca6fb4e11"/>
    <p:sldId xmlns:r="http://schemas.openxmlformats.org/officeDocument/2006/relationships" id="264" r:id="Rc8e79f7fb2624fff"/>
    <p:sldId xmlns:r="http://schemas.openxmlformats.org/officeDocument/2006/relationships" id="265" r:id="R80b2e9d7aa8f41e6"/>
    <p:sldId xmlns:r="http://schemas.openxmlformats.org/officeDocument/2006/relationships" id="266" r:id="Rf4658072d63640c7"/>
    <p:sldId xmlns:r="http://schemas.openxmlformats.org/officeDocument/2006/relationships" id="267" r:id="R659b2b54febb428d"/>
    <p:sldId xmlns:r="http://schemas.openxmlformats.org/officeDocument/2006/relationships" id="268" r:id="R9b90f079eee24fb6"/>
    <p:sldId xmlns:r="http://schemas.openxmlformats.org/officeDocument/2006/relationships" id="269" r:id="R5e28639158114282"/>
    <p:sldId xmlns:r="http://schemas.openxmlformats.org/officeDocument/2006/relationships" id="270" r:id="R7143ec0da61143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420016864348d1" /><Relationship Type="http://schemas.openxmlformats.org/officeDocument/2006/relationships/slideMaster" Target="/ppt/slideMasters/slideMaster1.xml" Id="R1351a064f27943be" /><Relationship Type="http://schemas.openxmlformats.org/officeDocument/2006/relationships/notesMaster" Target="/ppt/notesMasters/notesMaster1.xml" Id="R9277d295337748f0" /><Relationship Type="http://schemas.openxmlformats.org/officeDocument/2006/relationships/presProps" Target="/ppt/presProps.xml" Id="R2bd46ca23a5c4a21" /><Relationship Type="http://schemas.openxmlformats.org/officeDocument/2006/relationships/tableStyles" Target="/ppt/tableStyles.xml" Id="Ref778f8da7164c26" /><Relationship Type="http://schemas.openxmlformats.org/officeDocument/2006/relationships/slide" Target="/ppt/slides/slide1.xml" Id="R1817434b811a4148" /><Relationship Type="http://schemas.openxmlformats.org/officeDocument/2006/relationships/slide" Target="/ppt/slides/slide2.xml" Id="Ra799c08adfc247e5" /><Relationship Type="http://schemas.openxmlformats.org/officeDocument/2006/relationships/slide" Target="/ppt/slides/slide3.xml" Id="Raf2937b2b9ea48f0" /><Relationship Type="http://schemas.openxmlformats.org/officeDocument/2006/relationships/slide" Target="/ppt/slides/slide4.xml" Id="R072f851706fe4014" /><Relationship Type="http://schemas.openxmlformats.org/officeDocument/2006/relationships/slide" Target="/ppt/slides/slide5.xml" Id="R59b83c47ac8f4b57" /><Relationship Type="http://schemas.openxmlformats.org/officeDocument/2006/relationships/slide" Target="/ppt/slides/slide6.xml" Id="Ra00b9dc7b476401f" /><Relationship Type="http://schemas.openxmlformats.org/officeDocument/2006/relationships/slide" Target="/ppt/slides/slide7.xml" Id="R34490f4d29674e03" /><Relationship Type="http://schemas.openxmlformats.org/officeDocument/2006/relationships/slide" Target="/ppt/slides/slide8.xml" Id="Rb4cc365ca6fb4e11" /><Relationship Type="http://schemas.openxmlformats.org/officeDocument/2006/relationships/slide" Target="/ppt/slides/slide9.xml" Id="Rc8e79f7fb2624fff" /><Relationship Type="http://schemas.openxmlformats.org/officeDocument/2006/relationships/slide" Target="/ppt/slides/slide10.xml" Id="R80b2e9d7aa8f41e6" /><Relationship Type="http://schemas.openxmlformats.org/officeDocument/2006/relationships/slide" Target="/ppt/slides/slide11.xml" Id="Rf4658072d63640c7" /><Relationship Type="http://schemas.openxmlformats.org/officeDocument/2006/relationships/slide" Target="/ppt/slides/slide12.xml" Id="R659b2b54febb428d" /><Relationship Type="http://schemas.openxmlformats.org/officeDocument/2006/relationships/slide" Target="/ppt/slides/slide13.xml" Id="R9b90f079eee24fb6" /><Relationship Type="http://schemas.openxmlformats.org/officeDocument/2006/relationships/slide" Target="/ppt/slides/slide14.xml" Id="R5e28639158114282" /><Relationship Type="http://schemas.openxmlformats.org/officeDocument/2006/relationships/slide" Target="/ppt/slides/slide15.xml" Id="R7143ec0da61143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72334b534046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4d4c4b370f4461" /><Relationship Type="http://schemas.openxmlformats.org/officeDocument/2006/relationships/notesMaster" Target="/ppt/notesMasters/notesMaster1.xml" Id="R1d84b8d6235f4d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12d993368d4bf7" /><Relationship Type="http://schemas.openxmlformats.org/officeDocument/2006/relationships/notesMaster" Target="/ppt/notesMasters/notesMaster1.xml" Id="Rba8e258dff8041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a35cdc4e4a4e43" /><Relationship Type="http://schemas.openxmlformats.org/officeDocument/2006/relationships/notesMaster" Target="/ppt/notesMasters/notesMaster1.xml" Id="Rcda33e88106040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42240e8aa24028" /><Relationship Type="http://schemas.openxmlformats.org/officeDocument/2006/relationships/notesMaster" Target="/ppt/notesMasters/notesMaster1.xml" Id="Rec7e407d980a44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fe201a3be14d3f" /><Relationship Type="http://schemas.openxmlformats.org/officeDocument/2006/relationships/notesMaster" Target="/ppt/notesMasters/notesMaster1.xml" Id="Rafae79fe4bda49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d906a61450420d" /><Relationship Type="http://schemas.openxmlformats.org/officeDocument/2006/relationships/notesMaster" Target="/ppt/notesMasters/notesMaster1.xml" Id="R5d08d93b9bf14b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900b04c2184c0a" /><Relationship Type="http://schemas.openxmlformats.org/officeDocument/2006/relationships/notesMaster" Target="/ppt/notesMasters/notesMaster1.xml" Id="R21daeaecff104d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986e5e603341e1" /><Relationship Type="http://schemas.openxmlformats.org/officeDocument/2006/relationships/notesMaster" Target="/ppt/notesMasters/notesMaster1.xml" Id="R6f74a2540f6c41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8c8ac664b44ad1" /><Relationship Type="http://schemas.openxmlformats.org/officeDocument/2006/relationships/notesMaster" Target="/ppt/notesMasters/notesMaster1.xml" Id="R89b424911a6a4f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e09b7f098a4935" /><Relationship Type="http://schemas.openxmlformats.org/officeDocument/2006/relationships/notesMaster" Target="/ppt/notesMasters/notesMaster1.xml" Id="R64d6de90250f41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c59a66b4644637" /><Relationship Type="http://schemas.openxmlformats.org/officeDocument/2006/relationships/notesMaster" Target="/ppt/notesMasters/notesMaster1.xml" Id="R6baeda3c27c045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0e031df4ce44ba" /><Relationship Type="http://schemas.openxmlformats.org/officeDocument/2006/relationships/notesMaster" Target="/ppt/notesMasters/notesMaster1.xml" Id="Rbebf65ef188743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7e86a1d7c54b90" /><Relationship Type="http://schemas.openxmlformats.org/officeDocument/2006/relationships/notesMaster" Target="/ppt/notesMasters/notesMaster1.xml" Id="Rabf663a29a144a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6a7a5515174f19" /><Relationship Type="http://schemas.openxmlformats.org/officeDocument/2006/relationships/notesMaster" Target="/ppt/notesMasters/notesMaster1.xml" Id="R2b813ff547c44c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2e1aae25d94d90" /><Relationship Type="http://schemas.openxmlformats.org/officeDocument/2006/relationships/notesMaster" Target="/ppt/notesMasters/notesMaster1.xml" Id="R9b15280674ec45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b18e79bcc4e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cc7912f707440b" /><Relationship Type="http://schemas.openxmlformats.org/officeDocument/2006/relationships/slideLayout" Target="/ppt/slideLayouts/slideLayout1.xml" Id="R1f21b77af2804d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21b77af2804d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b862d76f04a2c" /><Relationship Type="http://schemas.openxmlformats.org/officeDocument/2006/relationships/image" Target="/ppt/media/image.png" Id="Rc8d3c1370ba44fc0" /><Relationship Type="http://schemas.openxmlformats.org/officeDocument/2006/relationships/notesSlide" Target="/ppt/notesSlides/notesSlide1.xml" Id="R7d0716632edc4f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9f6bca8474dac" /><Relationship Type="http://schemas.openxmlformats.org/officeDocument/2006/relationships/notesSlide" Target="/ppt/notesSlides/notesSlide2.xml" Id="Ra074486003304c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cf2b75b794721" /><Relationship Type="http://schemas.openxmlformats.org/officeDocument/2006/relationships/notesSlide" Target="/ppt/notesSlides/notesSlide3.xml" Id="R65d60a906b8740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536e3bd5b424c" /><Relationship Type="http://schemas.openxmlformats.org/officeDocument/2006/relationships/notesSlide" Target="/ppt/notesSlides/notesSlide4.xml" Id="R2a250511102e4d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deb94de524098" /><Relationship Type="http://schemas.openxmlformats.org/officeDocument/2006/relationships/image" Target="/ppt/media/image2.png" Id="Rdf53abe8b5934826" /><Relationship Type="http://schemas.openxmlformats.org/officeDocument/2006/relationships/notesSlide" Target="/ppt/notesSlides/notesSlide5.xml" Id="R6d379969ab6441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2557f16b74a8d" /><Relationship Type="http://schemas.openxmlformats.org/officeDocument/2006/relationships/notesSlide" Target="/ppt/notesSlides/notesSlide6.xml" Id="Ra0f815fce8e54a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f48f953cc4f2b" /><Relationship Type="http://schemas.openxmlformats.org/officeDocument/2006/relationships/notesSlide" Target="/ppt/notesSlides/notesSlide7.xml" Id="R05225a40675c48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6038bcd204585" /><Relationship Type="http://schemas.openxmlformats.org/officeDocument/2006/relationships/notesSlide" Target="/ppt/notesSlides/notesSlide8.xml" Id="Rf513de1205b14e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aa629568c471f" /><Relationship Type="http://schemas.openxmlformats.org/officeDocument/2006/relationships/image" Target="/ppt/media/image3.png" Id="Ra612d169a3ec434a" /><Relationship Type="http://schemas.openxmlformats.org/officeDocument/2006/relationships/image" Target="/ppt/media/image4.png" Id="R2fb56d30827d4f26" /><Relationship Type="http://schemas.openxmlformats.org/officeDocument/2006/relationships/notesSlide" Target="/ppt/notesSlides/notesSlide9.xml" Id="R6dcd1217df5a40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622b2ad61453f" /><Relationship Type="http://schemas.openxmlformats.org/officeDocument/2006/relationships/notesSlide" Target="/ppt/notesSlides/notesSlide10.xml" Id="R27027a11417e4f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648fdd5c64dd9" /><Relationship Type="http://schemas.openxmlformats.org/officeDocument/2006/relationships/notesSlide" Target="/ppt/notesSlides/notesSlide11.xml" Id="R0a582f4b337545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30a5dc0244565" /><Relationship Type="http://schemas.openxmlformats.org/officeDocument/2006/relationships/notesSlide" Target="/ppt/notesSlides/notesSlide12.xml" Id="R43ef04263f7841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40b36b83b4cc7" /><Relationship Type="http://schemas.openxmlformats.org/officeDocument/2006/relationships/notesSlide" Target="/ppt/notesSlides/notesSlide13.xml" Id="R71bb81c0a9004a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4461847a4480d" /><Relationship Type="http://schemas.openxmlformats.org/officeDocument/2006/relationships/notesSlide" Target="/ppt/notesSlides/notesSlide14.xml" Id="R4ec1080c6cd149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8c92421974d1d" /><Relationship Type="http://schemas.openxmlformats.org/officeDocument/2006/relationships/notesSlide" Target="/ppt/notesSlides/notesSlide15.xml" Id="R5198c34f0b364b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6C9BAF-8F9D-4DDD-9D5D-D9F1F7C1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4500" b="1">
                <a:solidFill>
                  <a:srgbClr val="0B5D31"/>
                </a:solidFill>
              </a:rPr>
              <a:t>RunningMachine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273B2-4087-45FD-B4F9-0117191C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Qt/C++ 러닝머신 운동 기록 시뮬레이터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D3DFB-5D68-445D-A5B0-C19DCF0C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650" b="0">
                <a:solidFill>
                  <a:srgbClr val="5B6576"/>
                </a:solidFill>
              </a:rPr>
              <a:t>실시간 운동 계산, 사용자별 기록 저장, 날짜 범위 기록 조회를 Qt 클라이언트와 Flask API, MySQL, Cloudflare Quick Tunnel로 연결했습니다.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608BB-0029-42FC-8EB9-48A89BF4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1219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8F3"/>
          </a:solidFill>
          <a:ln xmlns:a="http://schemas.openxmlformats.org/drawingml/2006/main" w="9525">
            <a:solidFill>
              <a:srgbClr val="CFE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20E2F-F776-48E8-9C43-DEB59824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050" b="1">
                <a:solidFill>
                  <a:srgbClr val="16843A"/>
                </a:solidFill>
              </a:rPr>
              <a:t>Qt/C++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15105-82D9-4AC1-98EB-34991B3A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52800"/>
            <a:ext cx="1219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8F3"/>
          </a:solidFill>
          <a:ln xmlns:a="http://schemas.openxmlformats.org/drawingml/2006/main" w="9525">
            <a:solidFill>
              <a:srgbClr val="CFE6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C58A9-32BF-43F7-82C0-D8D890C4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528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050" b="1">
                <a:solidFill>
                  <a:srgbClr val="16843A"/>
                </a:solidFill>
              </a:rPr>
              <a:t>QTimer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3B7C4-513B-4685-8E37-1CF7FB03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1219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8F3"/>
          </a:solidFill>
          <a:ln xmlns:a="http://schemas.openxmlformats.org/drawingml/2006/main" w="9525">
            <a:solidFill>
              <a:srgbClr val="CFE6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5E44E-5ADC-4F90-B54E-80F638F2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050" b="1">
                <a:solidFill>
                  <a:srgbClr val="16843A"/>
                </a:solidFill>
              </a:rPr>
              <a:t>MySQL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BA73B-1F9B-4424-8861-C983152B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52800"/>
            <a:ext cx="1219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8F3"/>
          </a:solidFill>
          <a:ln xmlns:a="http://schemas.openxmlformats.org/drawingml/2006/main" w="9525">
            <a:solidFill>
              <a:srgbClr val="CFE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1142C-E882-4CC7-89A2-80B1647C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528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050" b="1">
                <a:solidFill>
                  <a:srgbClr val="16843A"/>
                </a:solidFill>
              </a:rPr>
              <a:t>Flask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69B35-7CB6-4E18-9E6E-155A0093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52800"/>
            <a:ext cx="1219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8F3"/>
          </a:solidFill>
          <a:ln xmlns:a="http://schemas.openxmlformats.org/drawingml/2006/main" w="9525">
            <a:solidFill>
              <a:srgbClr val="CFE6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F352F-FA82-45FE-A65C-887A7235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528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050" b="1">
                <a:solidFill>
                  <a:srgbClr val="16843A"/>
                </a:solidFill>
              </a:rPr>
              <a:t>Cloudflare Tunnel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3c1370ba44fc0"/>
          <a:stretch xmlns:a="http://schemas.openxmlformats.org/drawingml/2006/main"/>
        </p:blipFill>
        <p:spPr>
          <a:xfrm xmlns:a="http://schemas.openxmlformats.org/drawingml/2006/main">
            <a:off x="8620125" y="1684734"/>
            <a:ext cx="2381250" cy="297656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424D3-35F3-4B40-8570-432BCFDC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200" b="0">
                <a:solidFill>
                  <a:srgbClr val="5B6576"/>
                </a:solidFill>
              </a:rPr>
              <a:t>Project Overview Deck</a:t>
            </a:r>
          </a:p>
        </p:txBody>
      </p:sp>
    </p:spTree>
    <p:extLst>
      <p:ext uri="{BB962C8B-B14F-4D97-AF65-F5344CB8AC3E}">
        <p14:creationId xmlns:p14="http://schemas.microsoft.com/office/powerpoint/2010/main" val="1823654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E28F04-4D43-4F50-9D45-7463A817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7F0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12A39-6167-45D6-94CD-C8B90B88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200" b="1">
                <a:solidFill>
                  <a:srgbClr val="16843A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70B34-279D-45EA-9E56-01892462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개요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6FCE7-70CF-4610-9A2A-BC4790C8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2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200" b="0">
                <a:solidFill>
                  <a:srgbClr val="5B6576"/>
                </a:solidFill>
              </a:rPr>
              <a:t>프로그램이 무엇을 하는지 먼저 정리했습니다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3C75D-669F-48B4-A454-FE87D183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110871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5A980-AC23-460D-89CE-C8D1274C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B162F-E43A-4DB0-B740-DF0BDB4B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575" b="1">
                <a:solidFill>
                  <a:srgbClr val="16843A"/>
                </a:solidFill>
              </a:rPr>
              <a:t>무엇을 만들었나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0B7BC-715E-4EC5-A6B2-CF8FCEF7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러닝머신 운동 중 시간, 속도, 거리, 칼로리를 실시간으로 계산하고 화면에 표시하는 Qt 데스크톱 앱입니다.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B14A9-C7FE-449E-9813-C8786972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927FA-A27A-4F34-B48E-808DD9CA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097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왜 확장했나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A2BEB-3BBE-41E8-AB9D-0673F84E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71675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운동 종료 후 결과가 사라지지 않도록 사용자별 운동 기록을 저장하고 다시 조회하는 기능을 추가했습니다.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16A57-5B51-40B6-83D1-58EDC16C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AAC73-3DE5-48E8-8306-7C04954F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097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D97706"/>
                </a:solidFill>
              </a:defRPr>
            </a:pPr>
            <a:r>
              <a:rPr sz="1575" b="1">
                <a:solidFill>
                  <a:srgbClr val="D97706"/>
                </a:solidFill>
              </a:rPr>
              <a:t>어떻게 연결했나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19998-1413-4888-91B9-4323B32B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71675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Qt 앱이 Flask API로 JSON 요청을 보내고, Flask 서버가 MySQL에 저장·조회 작업을 수행합니다.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74134-E139-4173-9019-E542EEA7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00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800" b="1">
                <a:solidFill>
                  <a:srgbClr val="16843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B6241-1B63-466F-AA6E-0CAF7432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00500"/>
            <a:ext cx="920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처음에는 클라이언트 내부 계산과 화면 표시를 구현했습니다.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9F1A3-35F6-4874-89D9-E9500650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14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800" b="1">
                <a:solidFill>
                  <a:srgbClr val="16843A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F9119-5C4A-4BF7-AF5C-9E6CF999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14850"/>
            <a:ext cx="920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기록 저장이 필요해지면서 MySQL 테이블을 설계했습니다.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29A7D-5C0D-4E7D-88BD-274E6506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292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800" b="1">
                <a:solidFill>
                  <a:srgbClr val="16843A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6EFB9-BC7D-4BF7-9665-A2535FF7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29200"/>
            <a:ext cx="920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DB 직접 연결 대신 Flask API 서버를 두고, 외부 접속에는 Cloudflare Quick Tunnel을 사용했습니다.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B2677-EEEE-4458-86A4-2FC4F808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RunningMachine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A8C209-375D-412E-8191-F1EC38E0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14072329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E3ECF1-B028-4445-8CFC-935960F2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7F0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C57E0-3EE4-4314-98C4-9DFE9DBE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200" b="1">
                <a:solidFill>
                  <a:srgbClr val="16843A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E4890-2AC4-4B91-8503-02483D9D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사용 기술 한눈에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169D1-52D5-449D-A357-7545234D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2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200" b="0">
                <a:solidFill>
                  <a:srgbClr val="5B6576"/>
                </a:solidFill>
              </a:rPr>
              <a:t>각 기술이 맡은 역할을 먼저 정리했습니다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0D4AC-2EDA-4077-8E6B-E29B9737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110871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C769F-DAFE-4392-ABE9-4C8ECECD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D3FFD-A4D6-409F-8A5D-309E577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00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725" b="1">
                <a:solidFill>
                  <a:srgbClr val="16843A"/>
                </a:solidFill>
              </a:rPr>
              <a:t>Qt/C++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86DF3-B0E5-40A7-A9CD-8F99388A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002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화면 구성, 버튼 이벤트, 실시간 상태 표시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BAE60-4A7C-4014-9FC7-731105E3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C62DF-C86A-4EA9-B674-8B0A59B4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latin typeface="Malgun Gothic"/>
                <a:ea typeface="Malgun Gothic"/>
                <a:cs typeface="Malgun Gothic"/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QTimer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69788-29E3-4F92-AB9A-F44E8FDF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운동 시간, 거리, 칼로리 주기적 갱신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7A640-B191-4844-A584-E23268E2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0D5B4-1843-41C9-92C8-96C93DAB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latin typeface="Malgun Gothic"/>
                <a:ea typeface="Malgun Gothic"/>
                <a:cs typeface="Malgun Gothic"/>
                <a:solidFill>
                  <a:srgbClr val="D97706"/>
                </a:solidFill>
              </a:defRPr>
            </a:pPr>
            <a:r>
              <a:rPr sz="1725" b="1">
                <a:solidFill>
                  <a:srgbClr val="D97706"/>
                </a:solidFill>
              </a:rPr>
              <a:t>MySQL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CB113-D8E7-4E45-B819-3C70DCAE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57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회원 정보와 운동 기록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9C7A1-1802-4B7B-813C-4ACF5D9B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050A6-FA4B-4D46-B7CF-40244753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725" b="1">
                <a:solidFill>
                  <a:srgbClr val="0B5D31"/>
                </a:solidFill>
              </a:rPr>
              <a:t>Flask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7B9FE-69CD-4E5C-BB69-D3373634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Qt 요청을 받아 DB 작업 처리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18049C-E788-4D00-B91A-13646546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433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185C4-C9FC-4D08-B0D5-2B96E64A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14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latin typeface="Malgun Gothic"/>
                <a:ea typeface="Malgun Gothic"/>
                <a:cs typeface="Malgun Gothic"/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Cloudflare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4D141-B862-4A1D-84F2-7449A2DC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148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로컬 Flask 서버를 외부 HTTPS 주소와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D4BAD-FF11-4BB3-90E3-2142F119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150BB8-6E33-431A-A40F-1E2B23CC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latin typeface="Malgun Gothic"/>
                <a:ea typeface="Malgun Gothic"/>
                <a:cs typeface="Malgun Gothic"/>
                <a:solidFill>
                  <a:srgbClr val="D97706"/>
                </a:solidFill>
              </a:defRPr>
            </a:pPr>
            <a:r>
              <a:rPr sz="1725" b="1">
                <a:solidFill>
                  <a:srgbClr val="D97706"/>
                </a:solidFill>
              </a:rPr>
              <a:t>windeployqt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3C81B-905B-4409-8E10-FF48318C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148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Qt 실행 파일 배포에 필요한 의존성 수집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564B1A-4F46-4330-9BEC-F8A0FEDD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RunningMachine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76CBDB-A094-468D-B5B4-8F4D846D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3 / 15</a:t>
            </a:r>
          </a:p>
        </p:txBody>
      </p:sp>
    </p:spTree>
    <p:extLst>
      <p:ext uri="{BB962C8B-B14F-4D97-AF65-F5344CB8AC3E}">
        <p14:creationId xmlns:p14="http://schemas.microsoft.com/office/powerpoint/2010/main" val="16498876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2D27D0-47B4-4ACA-88F6-455F7CDB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7F0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83CE4-7C71-42AE-A6B5-D1FDA522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200" b="1">
                <a:solidFill>
                  <a:srgbClr val="16843A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227A7-FC76-4F2B-8404-B6DFCBD3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전체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FAABE-652A-4C0A-AFB1-44085CD4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2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200" b="0">
                <a:solidFill>
                  <a:srgbClr val="5B6576"/>
                </a:solidFill>
              </a:rPr>
              <a:t>계산은 클라이언트에서, 저장과 조회는 서버와 DB에서 처리합니다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CFC06-9425-4A73-BE21-5B6017D8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110871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F5CF2-9F48-4C7D-9C55-20BBE943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71800"/>
            <a:ext cx="133350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8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FAE3B-9ECF-4270-B26B-4CEB9025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71800"/>
            <a:ext cx="133350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8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980D0-9E25-472D-8DBB-C0DA2A73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133350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8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E1C5B-F606-43DE-BAAD-5DE20AE6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F4098-AACA-43F8-A8B9-66F29124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875" b="1">
                <a:solidFill>
                  <a:srgbClr val="0B5D31"/>
                </a:solidFill>
              </a:rPr>
              <a:t>사용자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A2580-C466-49C4-B4EB-75126EB3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350" b="0">
                <a:solidFill>
                  <a:srgbClr val="5B6576"/>
                </a:solidFill>
              </a:rPr>
              <a:t>로그인</a:t>
            </a:r>
          </a:p>
          <a:p xmlns:a="http://schemas.openxmlformats.org/drawingml/2006/main">
            <a:pPr algn="ctr">
              <a:defRPr sz="135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350" b="0">
                <a:solidFill>
                  <a:srgbClr val="5B6576"/>
                </a:solidFill>
              </a:rPr>
              <a:t>운동 시작</a:t>
            </a:r>
          </a:p>
          <a:p xmlns:a="http://schemas.openxmlformats.org/drawingml/2006/main">
            <a:pPr algn="ctr">
              <a:defRPr sz="135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350" b="0">
                <a:solidFill>
                  <a:srgbClr val="5B6576"/>
                </a:solidFill>
              </a:rPr>
              <a:t>기록 조회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C0C8B-0D85-4DD7-972C-489C13AB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1571625" cy="20955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DD2A2-79B8-41A3-B2F5-D4AC38E1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717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875" b="1">
                <a:solidFill>
                  <a:srgbClr val="0B5D31"/>
                </a:solidFill>
              </a:rPr>
              <a:t>Qt 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CDA5A-037D-42ED-AB26-1AB868A0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1190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화면 전환</a:t>
            </a:r>
          </a:p>
          <a:p xmlns:a="http://schemas.openxmlformats.org/drawingml/2006/main">
            <a:pPr algn="ctr">
              <a:defRPr sz="135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실시간 계산</a:t>
            </a:r>
          </a:p>
          <a:p xmlns:a="http://schemas.openxmlformats.org/drawingml/2006/main">
            <a:pPr algn="ctr">
              <a:defRPr sz="135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서버 요청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BBA39-6614-4959-B10A-92C4F0B5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43125"/>
            <a:ext cx="1571625" cy="1619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895B9-BD63-402C-AA29-BD688F76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57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latin typeface="Malgun Gothic"/>
                <a:ea typeface="Malgun Gothic"/>
                <a:cs typeface="Malgun Gothic"/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Tunnel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EB0A2-4D4E-471A-9724-79487D42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71800"/>
            <a:ext cx="119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외부 HTTPS</a:t>
            </a:r>
          </a:p>
          <a:p xmlns:a="http://schemas.openxmlformats.org/drawingml/2006/main">
            <a:pPr algn="ctr">
              <a:defRPr sz="135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주소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84EF2-4E72-479F-A36E-63D3C2E4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9F187-961F-457C-8DF7-FCBFA345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955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latin typeface="Malgun Gothic"/>
                <a:ea typeface="Malgun Gothic"/>
                <a:cs typeface="Malgun Gothic"/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Flask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B641DE-EA31-43B6-A161-97F7E129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67000"/>
            <a:ext cx="1181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회원 확인</a:t>
            </a:r>
          </a:p>
          <a:p xmlns:a="http://schemas.openxmlformats.org/drawingml/2006/main">
            <a:pPr algn="ctr">
              <a:defRPr sz="135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회원 생성</a:t>
            </a:r>
          </a:p>
          <a:p xmlns:a="http://schemas.openxmlformats.org/drawingml/2006/main">
            <a:pPr algn="ctr">
              <a:defRPr sz="135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기록 저장</a:t>
            </a:r>
          </a:p>
          <a:p xmlns:a="http://schemas.openxmlformats.org/drawingml/2006/main">
            <a:pPr algn="ctr">
              <a:defRPr sz="135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기록 조회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0E261F-5326-4137-A336-418BA1DA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C7D7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A44EA-B5F1-46A5-BC91-D05F0548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625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latin typeface="Malgun Gothic"/>
                <a:ea typeface="Malgun Gothic"/>
                <a:cs typeface="Malgun Gothic"/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66C9D7-DF03-404D-B21E-3008077D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91000"/>
            <a:ext cx="9525" cy="381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8465AB-97BD-478F-B85C-19AA833C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650" b="1">
                <a:solidFill>
                  <a:srgbClr val="0B5D31"/>
                </a:solidFill>
              </a:rPr>
              <a:t>전체 구조를 먼저 잡고 나면 각 기술의 역할과 연결 이유가 더 명확해집니다.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1BB0C-144D-4979-8DD2-34422B29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RunningMachine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719373-2109-4ED8-8C3D-D88BA038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386547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22AE7F-4235-40D8-9679-E974EF68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7F0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06E98-1AED-4C42-B376-48151347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200" b="1">
                <a:solidFill>
                  <a:srgbClr val="16843A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FB60D-3C44-4930-A114-1921700A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Qt/C++ 클라이언트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9E856-D91B-44EF-9F66-1E756B58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2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200" b="0">
                <a:solidFill>
                  <a:srgbClr val="5B6576"/>
                </a:solidFill>
              </a:rPr>
              <a:t>사용자가 직접 조작하는 화면과 실시간 계산을 담당합니다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FA673-4FED-4EBA-BA5E-FC0C7C6F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110871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5DD03-6934-496B-B15F-93D427E5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3D8C7-D9B6-4795-9E44-62223E58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5621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575" b="1">
                <a:solidFill>
                  <a:srgbClr val="16843A"/>
                </a:solidFill>
              </a:rPr>
              <a:t>화면 구성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497BF-BFF1-48AF-8DA9-5797DCB4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924050"/>
            <a:ext cx="3028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QStackedWidget으로 로그인, 메인, 러닝, 결과, 기록 조회 화면을 전환했습니다.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8015E-0540-4F89-9633-48DF0836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82A96-2AD4-4F5E-BF7D-92F50300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5621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실시간 갱신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AB96D-EDF8-4340-84AB-8E04FE55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924050"/>
            <a:ext cx="3028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QTimer가 200ms마다 계산 함수를 호출해 시간, 거리, 칼로리를 갱신합니다.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F34EF-B8D7-40B2-9121-A2A99327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28750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241A0-F06F-4057-B1DD-AE5F2A19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5621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D97706"/>
                </a:solidFill>
              </a:defRPr>
            </a:pPr>
            <a:r>
              <a:rPr sz="1575" b="1">
                <a:solidFill>
                  <a:srgbClr val="D97706"/>
                </a:solidFill>
              </a:rPr>
              <a:t>서버 요청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174D6-C166-4865-A554-849D1B1E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924050"/>
            <a:ext cx="3028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db_Connector가 Flask API로 JSON 요청을 보내 저장과 조회 기능을 연결합니다.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BBDBF-6B47-44E1-9522-88AEA3C0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230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D8156-DE07-4FCC-86A1-A146E468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629025"/>
            <a:ext cx="46101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void MainWindow::UpdateScreen()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{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for(auto Cal : Calculators)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  Cal-&gt;Calculate(UpdateCycle);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ui-&gt;TimeText-&gt;setText(...);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ui-&gt;DistanceText-&gt;setText(...);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ui-&gt;CalorieText-&gt;setText(...);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}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3abe8b5934826"/>
          <a:stretch xmlns:a="http://schemas.openxmlformats.org/drawingml/2006/main"/>
        </p:blipFill>
        <p:spPr>
          <a:xfrm xmlns:a="http://schemas.openxmlformats.org/drawingml/2006/main">
            <a:off x="7000875" y="4125516"/>
            <a:ext cx="2571750" cy="321469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7F483-CAD3-43F1-8121-02688011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575" b="1">
                <a:solidFill>
                  <a:srgbClr val="0B5D31"/>
                </a:solidFill>
              </a:rPr>
              <a:t>계산 로직은 시간, 속도, 거리, 칼로리 클래스로 나누어 관리했습니다.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5CBBB-54A9-4AA3-8129-0A5CD8AB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RunningMachine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BB33B-92C9-4463-AF23-27EA2F7E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271288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F7AE10-4F1F-4E1E-A6C5-04992952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7F0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7E1EA-7D3E-4687-B98B-E3F2F502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200" b="1">
                <a:solidFill>
                  <a:srgbClr val="16843A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4A609-085A-46CF-A723-05F8233F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MySQL 데이터베이스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6B077-9B1E-4369-AE20-EA2BE4C7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2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200" b="0">
                <a:solidFill>
                  <a:srgbClr val="5B6576"/>
                </a:solidFill>
              </a:rPr>
              <a:t>사용자 정보와 운동 기록을 분리해 저장합니다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3A06D-3AF5-469C-B015-8B6E1942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110871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4681C-D3D8-4478-908E-16B716DA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3429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F8CC6-DE3D-40F7-B520-F15B7280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2100" b="1">
                <a:solidFill>
                  <a:srgbClr val="0B5D31"/>
                </a:solidFill>
              </a:rPr>
              <a:t>Member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D681D-E5B1-439E-8CBA-CDE6F8D0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member_id  VARCHAR(10)  PK</a:t>
            </a:r>
          </a:p>
          <a:p xmlns:a="http://schemas.openxmlformats.org/drawingml/2006/main">
            <a:pPr algn="l">
              <a:defRPr sz="15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password   VARCHAR(10)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ID/PW 형식 검증 기준 포함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053F4-110C-471B-B54D-ACE4442C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3810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B399B-2D03-480B-91B9-7A06B3B6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latin typeface="Malgun Gothic"/>
                <a:ea typeface="Malgun Gothic"/>
                <a:cs typeface="Malgun Gothic"/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RunningRecord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95109-6009-4CF2-A529-C33EF198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33625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record_id</a:t>
            </a:r>
          </a:p>
          <a:p xmlns:a="http://schemas.openxmlformats.org/drawingml/2006/main">
            <a:pPr algn="l">
              <a:defRPr sz="15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member_id</a:t>
            </a:r>
          </a:p>
          <a:p xmlns:a="http://schemas.openxmlformats.org/drawingml/2006/main">
            <a:pPr algn="l">
              <a:defRPr sz="15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run_time</a:t>
            </a:r>
          </a:p>
          <a:p xmlns:a="http://schemas.openxmlformats.org/drawingml/2006/main">
            <a:pPr algn="l">
              <a:defRPr sz="15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avg_speed</a:t>
            </a:r>
          </a:p>
          <a:p xmlns:a="http://schemas.openxmlformats.org/drawingml/2006/main">
            <a:pPr algn="l">
              <a:defRPr sz="15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distance</a:t>
            </a:r>
          </a:p>
          <a:p xmlns:a="http://schemas.openxmlformats.org/drawingml/2006/main">
            <a:pPr algn="l">
              <a:defRPr sz="15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calorie</a:t>
            </a:r>
          </a:p>
          <a:p xmlns:a="http://schemas.openxmlformats.org/drawingml/2006/main">
            <a:pPr algn="l">
              <a:defRPr sz="15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record_date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2F8C0-9187-42B5-8C03-6389DEF5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24765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1E64B-26FC-446B-89D0-0ED82838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340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650" b="1">
                <a:solidFill>
                  <a:srgbClr val="0B5D31"/>
                </a:solidFill>
              </a:rPr>
              <a:t>한 명의 사용자에게 여러 운동 기록이 연결됩니다.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2B2BB-5D2B-4356-8D71-BD651E06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RunningMachine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F1BCA-5287-4973-AA33-6DBBD2E8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10088451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01E5B0-9E5C-4754-B58F-9C3D59DA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7F0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944A8-7535-47CC-B676-5C18F142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200" b="1">
                <a:solidFill>
                  <a:srgbClr val="16843A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42D19-F6D3-4EB5-A57C-C76BE5D3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Flask API 서버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49225-4B3B-41A3-A943-729C9020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2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200" b="0">
                <a:solidFill>
                  <a:srgbClr val="5B6576"/>
                </a:solidFill>
              </a:rPr>
              <a:t>Qt 클라이언트와 MySQL 사이에서 요청을 처리합니다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409FE-6276-42C4-BDF5-9FB53C20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110871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CE328-30DE-4284-92A6-9D08994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953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7C806-7CB2-48DC-9985-792522FF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575" b="1">
                <a:solidFill>
                  <a:srgbClr val="16843A"/>
                </a:solidFill>
              </a:rPr>
              <a:t>왜 서버를 두었나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EE6F4-1DC2-4AB7-888C-EFA3C59B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4648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클라이언트가 DB에 직접 접근하지 않도록 하고, DB 접속 정보와 저장 규칙을 서버에서 관리하기 위해 사용했습니다.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B4B4E-0FAB-424B-9D10-D5E6ED29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4953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ED6A3-9747-4ED8-8B64-CF24F3C5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621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어떤 일을 하나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1589A-97E7-4712-8FD2-75B97504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24050"/>
            <a:ext cx="4648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회원 확인, 비밀번호 확인, 회원 생성, 운동 기록 저장, 기간별 조회 API를 제공합니다.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4D61C-6B82-45A0-8400-565756FC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4953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230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3648B-D6FB-44BD-8FE3-82633F6F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486150"/>
            <a:ext cx="46101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get_connection()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mysql.connector.connect(DB_CONFIG)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SET time_zone = '+09:00'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/record/inquiry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start_date 00:00:00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end_date   23:59:59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run_time -&gt; HH:MM:SS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901F4-CB7B-481D-89C0-063AEC9C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3619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F26D1-7230-4DAE-B41B-1CCCD589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275" b="1">
                <a:solidFill>
                  <a:srgbClr val="0B5D31"/>
                </a:solidFill>
              </a:rPr>
              <a:t>/member/exists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79E82-2A92-4943-843C-FBEAF468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76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125" b="0">
                <a:solidFill>
                  <a:srgbClr val="5B6576"/>
                </a:solidFill>
              </a:rPr>
              <a:t>POST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203B3-EA2C-4EA4-9EFB-633AF778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3619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7347C-39E6-42B6-B5A3-E0F95B1F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275" b="1">
                <a:solidFill>
                  <a:srgbClr val="0B5D31"/>
                </a:solidFill>
              </a:rPr>
              <a:t>/member/check_password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94D59-6988-4662-9205-1B47E13C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33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125" b="0">
                <a:solidFill>
                  <a:srgbClr val="5B6576"/>
                </a:solidFill>
              </a:rPr>
              <a:t>POST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86E74F-71AB-4F9B-9D82-ACBF9562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3619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1C865-BF3C-4BAD-81F1-CA11B264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275" b="1">
                <a:solidFill>
                  <a:srgbClr val="0B5D31"/>
                </a:solidFill>
              </a:rPr>
              <a:t>/member/create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0DAAF3-2F21-444C-B3CF-72130552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91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125" b="0">
                <a:solidFill>
                  <a:srgbClr val="5B6576"/>
                </a:solidFill>
              </a:rPr>
              <a:t>POST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0F7AB7-5F0F-472D-A372-59802B5D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3619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AE6E84-3D4B-4359-AFC2-306DC047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48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275" b="1">
                <a:solidFill>
                  <a:srgbClr val="0B5D31"/>
                </a:solidFill>
              </a:rPr>
              <a:t>/record/save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D8639-F8A1-4C1F-B4FE-FFFA086A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48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125" b="0">
                <a:solidFill>
                  <a:srgbClr val="5B6576"/>
                </a:solidFill>
              </a:rPr>
              <a:t>POST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284B64-B3A5-47CA-8392-3E867616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3619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761D9D-907F-4216-B352-BF3381DF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275" b="1">
                <a:solidFill>
                  <a:srgbClr val="0B5D31"/>
                </a:solidFill>
              </a:rPr>
              <a:t>/record/inquiry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733D87-C85E-47F9-B701-6122ED1E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05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125" b="0">
                <a:solidFill>
                  <a:srgbClr val="5B6576"/>
                </a:solidFill>
              </a:rPr>
              <a:t>POST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E229E7-B04B-4C32-B3D4-06D4F0F8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RunningMachine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1903C0-8EF3-458E-94DA-C3964E1E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10806450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C445F0-0390-4875-84D1-0F3D5326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7F0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09CB6-53FE-4AF3-A730-8E6458BB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200" b="1">
                <a:solidFill>
                  <a:srgbClr val="16843A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8A74E-3011-458F-A650-6C8A2D7D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Cloudflare Quick Tunnel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38722-8C7A-4439-8EAF-1455A0B8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2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200" b="0">
                <a:solidFill>
                  <a:srgbClr val="5B6576"/>
                </a:solidFill>
              </a:rPr>
              <a:t>로컬 Flask 서버를 외부 HTTPS 주소로 연결합니다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66AE3-AB0B-4C1C-9055-795CCB3E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110871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CAA46-8403-404C-A6BD-A23E4C9B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0A2CB-A9F7-40F8-9F4F-E90ED3F1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575" b="1">
                <a:solidFill>
                  <a:srgbClr val="16843A"/>
                </a:solidFill>
              </a:rPr>
              <a:t>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DB027-F462-4FBB-BBE9-ABE86014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3028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로컬에서 실행 중인 서버를 trycloudflare.com 임시 주소와 연결해주는 터널 기능입니다.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E77F4-2593-48C2-B6F8-B45C5F59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AD13A-12C8-4B30-9630-77764163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5621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왜 사용했나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D6DBA-3D82-4A5F-8C08-0AA1A91F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924050"/>
            <a:ext cx="3028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Flask 서버를 따로 배포하지 않고도 다른 컴퓨터의 Qt 앱이 같은 API 서버에 접근하는 흐름을 확인하기 위해 사용했습니다.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5754B-52C8-40A1-8B92-4C13EA3C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55329-78FC-467F-B751-95D4C9A6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D97706"/>
                </a:solidFill>
              </a:defRPr>
            </a:pPr>
            <a:r>
              <a:rPr sz="1575" b="1">
                <a:solidFill>
                  <a:srgbClr val="D97706"/>
                </a:solidFill>
              </a:rPr>
              <a:t>어떻게 작동하나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CF05A-F2CA-46C6-A781-BEF7AF7E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24050"/>
            <a:ext cx="3028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외부 HTTPS 요청이 Cloudflare 주소로 들어오면 cloudflared가 localhost:8000으로 전달합니다.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7A403-F001-43BD-8C69-A3A5726D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209550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84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750AB-541C-41F3-8D5B-6E9C74C0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209550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8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A8E27-E6A7-42BF-BFDF-1DC32540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18097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84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B5472-43CE-49D8-B5C9-1EC83792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외부 Qt 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326E7-6C58-4269-AA03-E91033CC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62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latin typeface="Malgun Gothic"/>
                <a:ea typeface="Malgun Gothic"/>
                <a:cs typeface="Malgun Gothic"/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trycloudflare.com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5E8F2A-A566-4A3F-83C1-A849D72B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623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500" b="1">
                <a:solidFill>
                  <a:srgbClr val="0B5D31"/>
                </a:solidFill>
              </a:rPr>
              <a:t>cloudflared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90D2A-BF9B-437A-8451-6C0DB32A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623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latin typeface="Malgun Gothic"/>
                <a:ea typeface="Malgun Gothic"/>
                <a:cs typeface="Malgun Gothic"/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Flask :8000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1F4427-CF17-4A7A-81D2-0F19E928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43500"/>
            <a:ext cx="7048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230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A4CEE-E631-4619-A070-6A9CA165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95900"/>
            <a:ext cx="670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cloudflared tunnel --url http://localhost:8000 --protocol http2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0745D7-0F5E-4429-BA1F-3652E0EF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RunningMachine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69AAE7-8A44-4040-B9E2-5E010DF6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9412018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60A2C4-F07C-499C-82C5-71C903B6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7F0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4C637-1DAB-4CC2-AA20-49107F15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200" b="1">
                <a:solidFill>
                  <a:srgbClr val="16843A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1C754-1A93-4A39-9F75-07C6C208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Cloudflare 적용 화면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352F6-21B1-49B9-A823-B80165B1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2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200" b="0">
                <a:solidFill>
                  <a:srgbClr val="5B6576"/>
                </a:solidFill>
              </a:rPr>
              <a:t>발급된 주소를 Qt 클라이언트 BaseUrl에 반영했습니다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5CBE6-204A-4E8B-BAB7-AA1EA76B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110871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2d169a3ec434a"/>
          <a:stretch xmlns:a="http://schemas.openxmlformats.org/drawingml/2006/main"/>
        </p:blipFill>
        <p:spPr>
          <a:xfrm xmlns:a="http://schemas.openxmlformats.org/drawingml/2006/main">
            <a:off x="666750" y="2015926"/>
            <a:ext cx="5048250" cy="1064023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56d30827d4f26"/>
          <a:stretch xmlns:a="http://schemas.openxmlformats.org/drawingml/2006/main"/>
        </p:blipFill>
        <p:spPr>
          <a:xfrm xmlns:a="http://schemas.openxmlformats.org/drawingml/2006/main">
            <a:off x="6477000" y="2215290"/>
            <a:ext cx="4286250" cy="66529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FB982-0FE2-4177-8A2A-04473772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4381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E65C1-7BCF-45D5-B35C-EDE112B4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291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터널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5C46D-19C1-4EE1-9966-B257FBB5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591050"/>
            <a:ext cx="407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localhost:8000으로 실행 중인 Flask 서버를 trycloudflare.com 주소와 연결했습니다.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FC743-8656-42D0-ADE4-AA85A6D4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381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03CFE-21C0-4664-802A-FF0EBE20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291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575" b="1">
                <a:solidFill>
                  <a:srgbClr val="16843A"/>
                </a:solidFill>
              </a:rPr>
              <a:t>Qt 설정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C79CB-C971-405C-BCE7-47D7FD3F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91050"/>
            <a:ext cx="407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발급된 주소를 BaseUrl에 넣고 API 경로를 붙여 요청하도록 구성했습니다.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A5E30-8A31-4098-9FCC-7344948B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latin typeface="Malgun Gothic"/>
                <a:ea typeface="Malgun Gothic"/>
                <a:cs typeface="Malgun Gothic"/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Quick Tunnel 주소는 임시 주소라서 다시 실행하면 BaseUrl도 새 주소로 바꿔야 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97EDF-B096-444F-9775-3EC78E4B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RunningMachine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E0A0A-9705-4B38-9F35-515D3F10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782273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DCB116-6B50-45EC-BCC7-200832E4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7F0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01C09-4D38-4C93-A2DD-9015FF5E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200" b="1">
                <a:solidFill>
                  <a:srgbClr val="16843A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1C1F3-45C5-4622-AD9E-516AB51B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Qt와 서버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15F25-2F15-4B2E-89CC-986D124A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2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200" b="0">
                <a:solidFill>
                  <a:srgbClr val="5B6576"/>
                </a:solidFill>
              </a:rPr>
              <a:t>db_Connector가 BaseUrl 기준으로 JSON 요청을 보냅니다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02296-B985-4B58-A2AA-C5FB040F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110871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00E0E-CD14-4F21-8748-EAE119BF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143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230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0EA66-C71D-43BE-AA5A-9826E49C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48006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QNetworkRequest request(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QUrl(BaseUrl + "/member/exists"));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request.setHeader(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QNetworkRequest::ContentTypeHeader,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"application/json");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QJsonObject json;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json["member_id"] = MemberID;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manager.post(request,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QJsonDocument(json).toJson());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16845-2A0F-4156-AAB0-DB78E84E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3905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17496-E11A-48D1-8B19-1BA85633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575" b="1">
                <a:solidFill>
                  <a:srgbClr val="16843A"/>
                </a:solidFill>
              </a:rPr>
              <a:t>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1E05F-45CD-4F83-9BA3-A3392167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14550"/>
            <a:ext cx="3600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회원 ID, 비밀번호, 운동 결과, 날짜 범위를 JSON으로 구성합니다.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7D4B2-EE33-4BBC-A868-9F856579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3905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48EEB-EB8E-4300-B571-FEBE8973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8135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응답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D1D96-7F9A-43D9-BB93-9780F50A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43300"/>
            <a:ext cx="3600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success, exists, match, records 값을 읽어 다음 동작을 결정합니다.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7758D-EC53-4E00-A0D6-4A5DB10D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3905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F2955-D30B-43C1-AB58-A90B980A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D97706"/>
                </a:solidFill>
              </a:defRPr>
            </a:pPr>
            <a:r>
              <a:rPr sz="1575" b="1">
                <a:solidFill>
                  <a:srgbClr val="D97706"/>
                </a:solidFill>
              </a:rPr>
              <a:t>표시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2F923-C9D1-44FD-895B-F0B81B92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72050"/>
            <a:ext cx="3600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조회 결과는 records 배열을 순회해 QTableWidget에 표시합니다.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CEC83-D9FE-474E-9CCF-A40D18AC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RunningMachine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4EDBD-8425-48C4-BE5E-C339A3C0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5619759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388560-BD57-42A5-90A7-580243AD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7F0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3EDDE-31E6-498F-8E05-FAB97F65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200" b="1">
                <a:solidFill>
                  <a:srgbClr val="16843A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B6F31-CB6E-4390-BCA5-1F7CEAB2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저장과 조회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3B624-0EB2-4C59-AA11-80D49F2B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2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200" b="0">
                <a:solidFill>
                  <a:srgbClr val="5B6576"/>
                </a:solidFill>
              </a:rPr>
              <a:t>운동 결과가 서버를 거쳐 DB에 저장되고 다시 화면으로 돌아옵니다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CB1AF-F057-4DBE-98AA-5DBBB756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110871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A98C7-FC0F-495D-9162-E60CE889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28875"/>
            <a:ext cx="6667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8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EF6A6-B34E-43C0-B42B-8D132D6B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80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52EDE-25F9-4684-8F60-84EB1620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526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6843A"/>
          </a:solidFill>
          <a:ln xmlns:a="http://schemas.openxmlformats.org/drawingml/2006/main" w="9525">
            <a:solidFill>
              <a:srgbClr val="168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1B69A-7391-461E-89D0-FFF41E48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526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latin typeface="Malgun Gothic"/>
                <a:ea typeface="Malgun Gothic"/>
                <a:cs typeface="Malgun Gothic"/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541EA-94BB-4E1B-9D16-FCC3D6A9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52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500" b="1">
                <a:solidFill>
                  <a:srgbClr val="16843A"/>
                </a:solidFill>
              </a:rPr>
              <a:t>운동 종료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8CDEE-36B4-4E17-9712-D7320751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총 시간, 평균 속도, 거리, 칼로리 계산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5A88D-22A1-407B-91AA-3DDC8769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28875"/>
            <a:ext cx="6667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8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3CB28-837D-4A72-8958-6EB00112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180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C9F9B-2CD0-4B80-A23C-5E2EF459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526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272C2-F913-453A-B1DA-750A2C8A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526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latin typeface="Malgun Gothic"/>
                <a:ea typeface="Malgun Gothic"/>
                <a:cs typeface="Malgun Gothic"/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027A6-BEC0-45CD-80E2-3224A45C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52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latin typeface="Malgun Gothic"/>
                <a:ea typeface="Malgun Gothic"/>
                <a:cs typeface="Malgun Gothic"/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기록 저장 요청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8D00B-6C29-40B3-A4F5-927D52F6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28875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/record/save JSON POST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6710CD-ECB6-4C5A-8E9C-55B1BBC8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6667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8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A758F-3B7A-4D3D-B241-14A9A7FA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62125"/>
            <a:ext cx="180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6C514-876A-47AD-BDA4-0C42ADB7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526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42CE0-F4AA-4216-AE2D-D88BAAD4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526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latin typeface="Malgun Gothic"/>
                <a:ea typeface="Malgun Gothic"/>
                <a:cs typeface="Malgun Gothic"/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FAD2CA-846E-4A47-8622-2D74066F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latin typeface="Malgun Gothic"/>
                <a:ea typeface="Malgun Gothic"/>
                <a:cs typeface="Malgun Gothic"/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MySQL 저장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303BD-0690-44FE-B2D1-087C086B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28875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RunningRecord INSERT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2DF3D3-63F0-4E71-AA13-FEEEA48D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180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1BDDC-4E9A-49BD-8C65-E5253FE5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5D31"/>
          </a:solidFill>
          <a:ln xmlns:a="http://schemas.openxmlformats.org/drawingml/2006/main" w="9525">
            <a:solidFill>
              <a:srgbClr val="0B5D3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9B6E5C-C736-4873-8D48-6312BB61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latin typeface="Malgun Gothic"/>
                <a:ea typeface="Malgun Gothic"/>
                <a:cs typeface="Malgun Gothic"/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B9C925-17CD-43D2-B2D5-7228EAA9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52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500" b="1">
                <a:solidFill>
                  <a:srgbClr val="0B5D31"/>
                </a:solidFill>
              </a:rPr>
              <a:t>기록 조회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7DC832-AFC6-4BDB-8D2C-2B0F0B98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28875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/record/inquiry 결과 표시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993C9F-DD10-417E-86C1-28F71E53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57625"/>
            <a:ext cx="552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2304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953908-6A68-4B6C-B055-675368AE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10025"/>
            <a:ext cx="5181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저장 요청 예시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{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"member_id": "abc123",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"run_time": 120.0,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"avg_speed": 8.5,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"distance": 0.283,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  "calorie": 15.2</a:t>
            </a:r>
          </a:p>
          <a:p xmlns:a="http://schemas.openxmlformats.org/drawingml/2006/main">
            <a:pPr algn="l">
              <a:defRPr sz="1125" b="0">
                <a:latin typeface="Malgun Gothic"/>
                <a:ea typeface="Malgun Gothic"/>
                <a:cs typeface="Malgun Gothic"/>
                <a:solidFill>
                  <a:srgbClr val="E5F2EA"/>
                </a:solidFill>
              </a:defRPr>
            </a:pPr>
            <a:r>
              <a:rPr sz="1125" b="0">
                <a:solidFill>
                  <a:srgbClr val="E5F2EA"/>
                </a:solidFill>
              </a:rPr>
              <a:t>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F090CB-A0EC-42EF-A6E3-6E4146CC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RunningMachine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09A520-8A99-445A-810B-E9D570D0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20010478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1DA88A-C930-4743-A57F-8EE81C2A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7F0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6027D-31CB-4FC5-87A2-146C97A9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200" b="1">
                <a:solidFill>
                  <a:srgbClr val="16843A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0FE4A-868D-4C05-90CA-8BD43612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실행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527C7-7ACD-41C5-A060-C06BAAFD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2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200" b="0">
                <a:solidFill>
                  <a:srgbClr val="5B6576"/>
                </a:solidFill>
              </a:rPr>
              <a:t>전체 기능을 확인할 때 준비해야 하는 순서입니다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D50BE-C1CB-4735-9998-E1C3174D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110871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7048C-D280-4B9D-8CC9-78654417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AF450-5BB1-4612-BA38-7BE4919A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144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843A"/>
          </a:solidFill>
          <a:ln xmlns:a="http://schemas.openxmlformats.org/drawingml/2006/main" w="9525">
            <a:solidFill>
              <a:srgbClr val="168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6ABF4-7EBB-480A-8B6B-24146B8F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144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latin typeface="Malgun Gothic"/>
                <a:ea typeface="Malgun Gothic"/>
                <a:cs typeface="Malgun Gothic"/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8EADA-078D-4FBC-B46D-AAF8BF4C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76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650" b="1">
                <a:solidFill>
                  <a:srgbClr val="0B5D31"/>
                </a:solidFill>
              </a:rPr>
              <a:t>MySQL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23E3B-47C1-4EDA-85D9-EA335244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RunRecordDB와 테이블 준비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C6929-3A8D-437B-9B6B-FE0B34FE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57425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D3399-34A5-4E43-AE10-93268800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907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843A"/>
          </a:solidFill>
          <a:ln xmlns:a="http://schemas.openxmlformats.org/drawingml/2006/main" w="9525">
            <a:solidFill>
              <a:srgbClr val="168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C7689-F21C-424B-BF27-33976F5A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907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latin typeface="Malgun Gothic"/>
                <a:ea typeface="Malgun Gothic"/>
                <a:cs typeface="Malgun Gothic"/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B7AB8-3D95-4F7A-B698-E7C32B8C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52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650" b="1">
                <a:solidFill>
                  <a:srgbClr val="0B5D31"/>
                </a:solidFill>
              </a:rPr>
              <a:t>Flask 서버 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36CAA-5174-4303-827E-0D84225E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python app.py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F5F3F-0F0C-4E40-9809-C084A0F0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33725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483BE-BBEE-4406-A2BB-53DEF2BE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67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843A"/>
          </a:solidFill>
          <a:ln xmlns:a="http://schemas.openxmlformats.org/drawingml/2006/main" w="9525">
            <a:solidFill>
              <a:srgbClr val="1684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2E4BB-D9C5-4AB0-A25D-511DB109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670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latin typeface="Malgun Gothic"/>
                <a:ea typeface="Malgun Gothic"/>
                <a:cs typeface="Malgun Gothic"/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C9337-AC49-4FC0-9080-6D978D4F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289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650" b="1">
                <a:solidFill>
                  <a:srgbClr val="0B5D31"/>
                </a:solidFill>
              </a:rPr>
              <a:t>Cloudflare 터널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08FA5-1AF8-4ECA-9611-8F1BB82E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289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cloudflared tunnel --url http://localhost:8000 --protocol http2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0FFA6-B3A8-4678-A965-255A1055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10025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55900E-D4DF-4E66-B3A8-C0F37379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843A"/>
          </a:solidFill>
          <a:ln xmlns:a="http://schemas.openxmlformats.org/drawingml/2006/main" w="9525">
            <a:solidFill>
              <a:srgbClr val="168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A2A02-71E0-406A-B7A6-5D0CDEEE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latin typeface="Malgun Gothic"/>
                <a:ea typeface="Malgun Gothic"/>
                <a:cs typeface="Malgun Gothic"/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754C8-4468-4C39-86FA-802F5965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05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650" b="1">
                <a:solidFill>
                  <a:srgbClr val="0B5D31"/>
                </a:solidFill>
              </a:rPr>
              <a:t>BaseUrl 갱신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AC4AD7-B7FA-4220-B8F9-9920A5E6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052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발급된 trycloudflare.com 주소 반영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4AEE7E-9A6F-4385-933A-2BCC1018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86325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16A488-07CE-4C6C-9CBD-15EF8E71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96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843A"/>
          </a:solidFill>
          <a:ln xmlns:a="http://schemas.openxmlformats.org/drawingml/2006/main" w="9525">
            <a:solidFill>
              <a:srgbClr val="1684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085DAE-6958-49A3-9A21-BF03D83C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96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latin typeface="Malgun Gothic"/>
                <a:ea typeface="Malgun Gothic"/>
                <a:cs typeface="Malgun Gothic"/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564602-AB97-438F-9AE7-90F66D61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81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650" b="1">
                <a:solidFill>
                  <a:srgbClr val="0B5D31"/>
                </a:solidFill>
              </a:rPr>
              <a:t>Qt 클라이언트 실행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15316A-FFF5-4648-9526-06DB0F9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815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로그인, 운동, 저장, 조회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A30A32-AC9F-410C-8EB4-BFA0C8DB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RunningMachine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B88827-43C8-427B-8472-C0C6C18A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12424795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D74299-39F1-49B1-B1CB-9538458D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7F0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68B25-B364-4464-BC95-488EDCE0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200" b="1">
                <a:solidFill>
                  <a:srgbClr val="16843A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4BB73-ABF8-40B6-AEB3-C08FD104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확인한 기능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768E3-4351-4497-A212-F688F6FC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2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200" b="0">
                <a:solidFill>
                  <a:srgbClr val="5B6576"/>
                </a:solidFill>
              </a:rPr>
              <a:t>기능별로 연결된 흐름을 확인했습니다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C946A-14FB-4002-BF47-4EAA1E5E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110871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C2D9C-BCD4-4B8F-8AE5-F8CCFF4A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572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216D0-7A08-4F71-9617-9485F8B8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6210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575" b="1">
                <a:solidFill>
                  <a:srgbClr val="16843A"/>
                </a:solidFill>
              </a:rPr>
              <a:t>회원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E1C5F-FBE5-46FC-9DDD-86C2F2D4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24050"/>
            <a:ext cx="426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존재하는 ID와 없는 ID 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CDD7B-E1F8-4AE3-9572-E222DEE9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572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BAE9B-A2C2-4F3F-8B7B-6588D0FC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6210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비밀번호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A8D00-A321-4A7C-96F5-F24588FF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24050"/>
            <a:ext cx="426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기존 회원 비밀번호 일치 여부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08445-F3F4-4C8B-85C9-3A2BFCA3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4572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7DA85-DD1C-48BE-8D5D-0401B4F3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47975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D97706"/>
                </a:solidFill>
              </a:defRPr>
            </a:pPr>
            <a:r>
              <a:rPr sz="1575" b="1">
                <a:solidFill>
                  <a:srgbClr val="D97706"/>
                </a:solidFill>
              </a:rPr>
              <a:t>운동 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43773-A346-464D-8828-C973C620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9925"/>
            <a:ext cx="426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시간·거리·칼로리 실시간 갱신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EE6FB-0D2B-4646-AE43-A78DCF71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4572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379B6-51B3-419F-91FF-B8C50034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47975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575" b="1">
                <a:solidFill>
                  <a:srgbClr val="0B5D31"/>
                </a:solidFill>
              </a:rPr>
              <a:t>기록 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66AEC-1071-4EA0-A289-407327F9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9925"/>
            <a:ext cx="426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/record/save 후 DB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BF205-313D-4716-ADC3-F8C97DF3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572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16002-B50C-4090-8F9B-4BB799C7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기록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0BBC6-261E-4C09-90F1-B540033D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426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날짜 범위 조회와 테이블 표시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D53CEF-8DC4-464A-8D97-FB35299A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572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256798-1B2C-4D07-97C3-C3B1F721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latin typeface="Malgun Gothic"/>
                <a:ea typeface="Malgun Gothic"/>
                <a:cs typeface="Malgun Gothic"/>
                <a:solidFill>
                  <a:srgbClr val="D97706"/>
                </a:solidFill>
              </a:defRPr>
            </a:pPr>
            <a:r>
              <a:rPr sz="1575" b="1">
                <a:solidFill>
                  <a:srgbClr val="D97706"/>
                </a:solidFill>
              </a:rPr>
              <a:t>터널 연결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BD1FD6-41A5-42EC-9CD8-F3EA89CC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95800"/>
            <a:ext cx="426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trycloudflare.com 주소로 API 접근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C6D72E-F5D4-45CE-9B14-5CBB0494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RunningMachine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D47BBC-3268-410F-ADF0-15B13C7A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0120166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A7C2E2-0116-4FEC-A3DA-4B2B2E0C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7F0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D0D03-A2AE-471A-A4E5-792FDB6F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latin typeface="Malgun Gothic"/>
                <a:ea typeface="Malgun Gothic"/>
                <a:cs typeface="Malgun Gothic"/>
                <a:solidFill>
                  <a:srgbClr val="16843A"/>
                </a:solidFill>
              </a:defRPr>
            </a:pPr>
            <a:r>
              <a:rPr sz="1200" b="1">
                <a:solidFill>
                  <a:srgbClr val="16843A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BD103-0352-4737-A134-4C89C8A3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현재 한계와 수정 방향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C0E84-18BC-4138-A5FF-220A42FE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2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200" b="0">
                <a:solidFill>
                  <a:srgbClr val="5B6576"/>
                </a:solidFill>
              </a:rPr>
              <a:t>현재 구조에서 이어서 정리할 부분입니다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F18F8-61CC-4365-94DF-5D2E7BBE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110871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3DAC3-2B33-47CC-8865-F4C8C755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167EE-9718-4A42-A1D9-4473A726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1725" b="1">
                <a:solidFill>
                  <a:srgbClr val="5B6576"/>
                </a:solidFill>
              </a:rPr>
              <a:t>현재 상태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4BAA4-01CB-4091-BE8A-26545D76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725" b="1">
                <a:solidFill>
                  <a:srgbClr val="0B5D31"/>
                </a:solidFill>
              </a:rPr>
              <a:t>수정 방향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3A0B8-C11D-4D26-BA5F-9653E623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100012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4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800B8-008B-4999-9004-58542CB2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Quick Tunnel 주소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A21A8-7D8A-49A0-BFE7-69F3994A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425" b="1">
                <a:solidFill>
                  <a:srgbClr val="0B5D31"/>
                </a:solidFill>
              </a:rPr>
              <a:t>고정 도메인 또는 정식 서버 배포로 변경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D2FAA-CA7E-40DF-9A2A-3C5CDB45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62250"/>
            <a:ext cx="100012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EF2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D49C9-7EC0-4226-B846-11623DE0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BaseUrl 관리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0A6B7-9767-4594-9C46-7CBDF053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425" b="1">
                <a:solidFill>
                  <a:srgbClr val="0B5D31"/>
                </a:solidFill>
              </a:rPr>
              <a:t>코드에서 분리해 설정 파일 또는 환경 변수로 관리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68771-940B-4AC9-A576-B5CD13DF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95650"/>
            <a:ext cx="100012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EF2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B4E7D1-F142-4460-B033-D8467806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DB 접속 정보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09511-CB3E-4C63-9382-8C981496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425" b="1">
                <a:solidFill>
                  <a:srgbClr val="0B5D31"/>
                </a:solidFill>
              </a:rPr>
              <a:t>config.example.py와 .env 구조로 정리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DD49C-C041-4CBC-9892-B74432D5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29050"/>
            <a:ext cx="100012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EF2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B8413-927E-4E7B-8D4E-4E0CB749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네트워크 요청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0F61C-A03D-44F4-B126-5C005E4A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425" b="1">
                <a:solidFill>
                  <a:srgbClr val="0B5D31"/>
                </a:solidFill>
              </a:rPr>
              <a:t>비동기 Signal/Slot 구조로 개선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654C3-04AC-4D39-8660-C4BDDE80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100012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EF2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33A0F1-437D-47CD-9C2B-8436C62A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latin typeface="Malgun Gothic"/>
                <a:ea typeface="Malgun Gothic"/>
                <a:cs typeface="Malgun Gothic"/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테스트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FE2B3-04ED-4BF4-B724-676AC8AD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latin typeface="Malgun Gothic"/>
                <a:ea typeface="Malgun Gothic"/>
                <a:cs typeface="Malgun Gothic"/>
                <a:solidFill>
                  <a:srgbClr val="0B5D31"/>
                </a:solidFill>
              </a:defRPr>
            </a:pPr>
            <a:r>
              <a:rPr sz="1425" b="1">
                <a:solidFill>
                  <a:srgbClr val="0B5D31"/>
                </a:solidFill>
              </a:rPr>
              <a:t>계산 모듈 단위 테스트와 API mock 테스트 추가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DE720F-C8A7-4186-968E-CB2FC9B7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RunningMachine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B6F237-B62E-4E10-B0DD-0173DE7E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latin typeface="Malgun Gothic"/>
                <a:ea typeface="Malgun Gothic"/>
                <a:cs typeface="Malgun Gothic"/>
                <a:solidFill>
                  <a:srgbClr val="5B6576"/>
                </a:solidFill>
              </a:defRPr>
            </a:pPr>
            <a:r>
              <a:rPr sz="900" b="0">
                <a:solidFill>
                  <a:srgbClr val="5B6576"/>
                </a:solidFill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3585668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2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438B9E-0868-4463-AE64-CBC7478F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latin typeface="Malgun Gothic"/>
                <a:ea typeface="Malgun Gothic"/>
                <a:cs typeface="Malgun Gothic"/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정리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A081B-ED68-428F-B020-25C89DA5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latin typeface="Malgun Gothic"/>
                <a:ea typeface="Malgun Gothic"/>
                <a:cs typeface="Malgun Gothic"/>
                <a:solidFill>
                  <a:srgbClr val="BFE7C9"/>
                </a:solidFill>
              </a:defRPr>
            </a:pPr>
            <a:r>
              <a:rPr sz="1950" b="1">
                <a:solidFill>
                  <a:srgbClr val="BFE7C9"/>
                </a:solidFill>
              </a:rPr>
              <a:t>RunningMachine은 Qt/C++ 데스크톱 앱에서 출발해 서버와 DB를 연결한 운동 기록 프로그램입니다.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2B933-4B51-4C5F-AC8C-FD1F2010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latin typeface="Malgun Gothic"/>
                <a:ea typeface="Malgun Gothic"/>
                <a:cs typeface="Malgun Gothic"/>
                <a:solidFill>
                  <a:srgbClr val="8BE29D"/>
                </a:solidFill>
              </a:defRPr>
            </a:pPr>
            <a:r>
              <a:rPr sz="1800" b="1">
                <a:solidFill>
                  <a:srgbClr val="8BE29D"/>
                </a:solidFill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A0EFB-1BD7-4B6F-BA8F-FF283C91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latin typeface="Malgun Gothic"/>
                <a:ea typeface="Malgun Gothic"/>
                <a:cs typeface="Malgun Gothic"/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Qt 클라이언트는 화면, 입력, 실시간 운동 계산을 담당합니다.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28AB4-ABA9-4D16-A0E2-E25C2AE7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051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latin typeface="Malgun Gothic"/>
                <a:ea typeface="Malgun Gothic"/>
                <a:cs typeface="Malgun Gothic"/>
                <a:solidFill>
                  <a:srgbClr val="8BE29D"/>
                </a:solidFill>
              </a:defRPr>
            </a:pPr>
            <a:r>
              <a:rPr sz="1800" b="1">
                <a:solidFill>
                  <a:srgbClr val="8BE29D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653BD-3C81-48C7-BC1A-432A31DD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latin typeface="Malgun Gothic"/>
                <a:ea typeface="Malgun Gothic"/>
                <a:cs typeface="Malgun Gothic"/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MySQL은 회원 정보와 운동 기록을 저장합니다.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61FF8-D482-4A34-8213-E64A7C5E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latin typeface="Malgun Gothic"/>
                <a:ea typeface="Malgun Gothic"/>
                <a:cs typeface="Malgun Gothic"/>
                <a:solidFill>
                  <a:srgbClr val="8BE29D"/>
                </a:solidFill>
              </a:defRPr>
            </a:pPr>
            <a:r>
              <a:rPr sz="1800" b="1">
                <a:solidFill>
                  <a:srgbClr val="8BE29D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70B1E-DBDA-45A9-BDE6-A2D0A130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385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latin typeface="Malgun Gothic"/>
                <a:ea typeface="Malgun Gothic"/>
                <a:cs typeface="Malgun Gothic"/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Flask API 서버는 Qt와 DB 사이에서 요청을 처리합니다.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0C867-0944-490B-9F07-BC15FBDF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latin typeface="Malgun Gothic"/>
                <a:ea typeface="Malgun Gothic"/>
                <a:cs typeface="Malgun Gothic"/>
                <a:solidFill>
                  <a:srgbClr val="8BE29D"/>
                </a:solidFill>
              </a:defRPr>
            </a:pPr>
            <a:r>
              <a:rPr sz="1800" b="1">
                <a:solidFill>
                  <a:srgbClr val="8BE29D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37B42-BC33-4470-BB17-27DEFD60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latin typeface="Malgun Gothic"/>
                <a:ea typeface="Malgun Gothic"/>
                <a:cs typeface="Malgun Gothic"/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Cloudflare Quick Tunnel은 로컬 서버를 외부 HTTPS 주소와 연결합니다.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12849-EA0C-40CA-B177-F3F86BD8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053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latin typeface="Malgun Gothic"/>
                <a:ea typeface="Malgun Gothic"/>
                <a:cs typeface="Malgun Gothic"/>
                <a:solidFill>
                  <a:srgbClr val="8BE29D"/>
                </a:solidFill>
              </a:defRPr>
            </a:pPr>
            <a:r>
              <a:rPr sz="1800" b="1">
                <a:solidFill>
                  <a:srgbClr val="8BE29D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17426-520F-475C-B8AC-D591E8CC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053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latin typeface="Malgun Gothic"/>
                <a:ea typeface="Malgun Gothic"/>
                <a:cs typeface="Malgun Gothic"/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db_Connector는 BaseUrl 기준으로 API를 호출하고 응답을 화면에 반영합니다.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75EAD-A079-416D-B9D1-3F39D092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latin typeface="Malgun Gothic"/>
                <a:ea typeface="Malgun Gothic"/>
                <a:cs typeface="Malgun Gothic"/>
                <a:solidFill>
                  <a:srgbClr val="BFE7C9"/>
                </a:solidFill>
              </a:defRPr>
            </a:pPr>
            <a:r>
              <a:rPr sz="900" b="0">
                <a:solidFill>
                  <a:srgbClr val="BFE7C9"/>
                </a:solidFill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636015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2026-06-29T06:59:25.3160000Z</dcterms:created>
  <dcterms:modified xsi:type="dcterms:W3CDTF">2026-06-29T06:59:25.3160000Z</dcterms:modified>
</coreProperties>
</file>